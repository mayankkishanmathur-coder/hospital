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22"/>
  </p:notesMasterIdLst>
  <p:sldIdLst>
    <p:sldId id="256" r:id="rId5"/>
    <p:sldId id="1249" r:id="rId6"/>
    <p:sldId id="1085" r:id="rId7"/>
    <p:sldId id="352" r:id="rId8"/>
    <p:sldId id="1251" r:id="rId9"/>
    <p:sldId id="1253" r:id="rId10"/>
    <p:sldId id="1254" r:id="rId11"/>
    <p:sldId id="1256" r:id="rId12"/>
    <p:sldId id="1257" r:id="rId13"/>
    <p:sldId id="1258" r:id="rId14"/>
    <p:sldId id="1259" r:id="rId15"/>
    <p:sldId id="1262" r:id="rId16"/>
    <p:sldId id="1263" r:id="rId17"/>
    <p:sldId id="1264" r:id="rId18"/>
    <p:sldId id="1260" r:id="rId19"/>
    <p:sldId id="1261" r:id="rId20"/>
    <p:sldId id="1255" r:id="rId21"/>
  </p:sldIdLst>
  <p:sldSz cx="12192000" cy="6858000"/>
  <p:notesSz cx="6858000" cy="9144000"/>
  <p:custDataLst>
    <p:tags r:id="rId2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84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4032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3FF"/>
    <a:srgbClr val="FFE500"/>
    <a:srgbClr val="B9D0FF"/>
    <a:srgbClr val="034977"/>
    <a:srgbClr val="023558"/>
    <a:srgbClr val="045890"/>
    <a:srgbClr val="0000FF"/>
    <a:srgbClr val="EDE2EE"/>
    <a:srgbClr val="1B35B5"/>
    <a:srgbClr val="667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D34B0D-47BD-4F79-8A36-8570D92EF248}" v="359" dt="2026-02-01T20:20:25.3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97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>
        <p:guide orient="horz" pos="784"/>
        <p:guide pos="192"/>
        <p:guide orient="horz" pos="1080"/>
        <p:guide orient="horz" pos="2160"/>
        <p:guide orient="horz"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Speaker would be briefing the students that this content has been prepared for the educational purpose only and is referred from multiple sites which are cited in the last.</a:t>
            </a:r>
            <a:r>
              <a:rPr lang="en-IN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---------------------------------------------------</a:t>
            </a: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A disclaimer is a statement or notice that is intended to clarify, limit, or provide information about the scope, limitations, or potential risks associated with certain actions, information, products, services, or content. </a:t>
            </a: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307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this slide speaker will be introducing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the</a:t>
            </a:r>
            <a:r>
              <a:rPr lang="en-US" sz="1800" b="1" spc="-10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program</a:t>
            </a:r>
            <a:r>
              <a:rPr lang="en-US" sz="1800" b="1" spc="-10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and</a:t>
            </a:r>
            <a:r>
              <a:rPr lang="en-US" sz="1800" b="1" spc="-5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its</a:t>
            </a:r>
            <a:r>
              <a:rPr lang="en-US" sz="1800" b="1" spc="-5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outcomes.  The speaker will introduce himself in brief</a:t>
            </a:r>
            <a:endParaRPr lang="en-US" b="1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1871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1168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8CA52B4-AFE7-436D-10A5-33BBC2F8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00EAD850-4C0A-4D1F-54F8-C5F959A150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411DB8B2-672C-460F-29D3-0F2797996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4303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E1FC1B1-B44F-F795-8CE0-8A1E5FA39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06FCACB7-6330-511A-DC41-2FCC5B286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53B2F108-3E8E-8CB3-D39C-2E5E2EE72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2153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76A3C39-E505-849D-072B-5A72E5B2A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4CA75921-0A6B-4147-FFE3-27787B5DA4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F44E0A6D-AE05-66D4-3151-9ADBBF817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82352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89DB2EC-5E59-1C9C-B257-47839B4E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521CF6DE-F83D-DF02-0EA6-49693349C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8D50153A-7825-FF11-BF01-858C98473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0307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4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297814" y="126596"/>
            <a:ext cx="1748776" cy="584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black background with a red and blue line&#10;&#10;Description automatically generated">
            <a:extLst>
              <a:ext uri="{FF2B5EF4-FFF2-40B4-BE49-F238E27FC236}">
                <a16:creationId xmlns:a16="http://schemas.microsoft.com/office/drawing/2014/main" id="{9CA50098-7D03-1836-41AA-E168C007D2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82037" b="14815"/>
          <a:stretch/>
        </p:blipFill>
        <p:spPr>
          <a:xfrm>
            <a:off x="0" y="6743065"/>
            <a:ext cx="12192000" cy="1377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1AFEAB-13E2-B4AA-FD33-8FE461808E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0464800" cy="666750"/>
          </a:xfrm>
          <a:prstGeom prst="rect">
            <a:avLst/>
          </a:prstGeom>
        </p:spPr>
      </p:pic>
      <p:pic>
        <p:nvPicPr>
          <p:cNvPr id="20" name="Picture 19" descr="A black screen with red and blue stripes&#10;&#10;Description automatically generated">
            <a:extLst>
              <a:ext uri="{FF2B5EF4-FFF2-40B4-BE49-F238E27FC236}">
                <a16:creationId xmlns:a16="http://schemas.microsoft.com/office/drawing/2014/main" id="{11971837-D8B7-1C36-5140-3CE05FA77F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t="94963"/>
          <a:stretch/>
        </p:blipFill>
        <p:spPr>
          <a:xfrm>
            <a:off x="0" y="6522720"/>
            <a:ext cx="12192000" cy="34544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14" r:id="rId2"/>
    <p:sldLayoutId id="2147483728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hyperlink" Target="https://www.scribd.com/document/875329232/10061394139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19707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3" name="Freeform 3"/>
          <p:cNvSpPr/>
          <p:nvPr/>
        </p:nvSpPr>
        <p:spPr>
          <a:xfrm>
            <a:off x="0" y="6660927"/>
            <a:ext cx="12192001" cy="197073"/>
          </a:xfrm>
          <a:custGeom>
            <a:avLst/>
            <a:gdLst/>
            <a:ahLst/>
            <a:cxnLst/>
            <a:rect l="l" t="t" r="r" b="b"/>
            <a:pathLst>
              <a:path w="17979397" h="921444">
                <a:moveTo>
                  <a:pt x="0" y="0"/>
                </a:moveTo>
                <a:lnTo>
                  <a:pt x="17979397" y="0"/>
                </a:lnTo>
                <a:lnTo>
                  <a:pt x="17979397" y="921444"/>
                </a:lnTo>
                <a:lnTo>
                  <a:pt x="0" y="9214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4" name="Freeform 4"/>
          <p:cNvSpPr/>
          <p:nvPr/>
        </p:nvSpPr>
        <p:spPr>
          <a:xfrm flipV="1">
            <a:off x="0" y="4401147"/>
            <a:ext cx="2529579" cy="2456853"/>
          </a:xfrm>
          <a:custGeom>
            <a:avLst/>
            <a:gdLst/>
            <a:ahLst/>
            <a:cxnLst/>
            <a:rect l="l" t="t" r="r" b="b"/>
            <a:pathLst>
              <a:path w="3794368" h="3685280">
                <a:moveTo>
                  <a:pt x="0" y="3685280"/>
                </a:moveTo>
                <a:lnTo>
                  <a:pt x="3794368" y="3685280"/>
                </a:lnTo>
                <a:lnTo>
                  <a:pt x="3794368" y="0"/>
                </a:lnTo>
                <a:lnTo>
                  <a:pt x="0" y="0"/>
                </a:lnTo>
                <a:lnTo>
                  <a:pt x="0" y="368528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5" name="Freeform 5"/>
          <p:cNvSpPr/>
          <p:nvPr/>
        </p:nvSpPr>
        <p:spPr>
          <a:xfrm flipH="1">
            <a:off x="5301756" y="0"/>
            <a:ext cx="6890244" cy="6692149"/>
          </a:xfrm>
          <a:custGeom>
            <a:avLst/>
            <a:gdLst/>
            <a:ahLst/>
            <a:cxnLst/>
            <a:rect l="l" t="t" r="r" b="b"/>
            <a:pathLst>
              <a:path w="10335366" h="10038224">
                <a:moveTo>
                  <a:pt x="10335366" y="0"/>
                </a:moveTo>
                <a:lnTo>
                  <a:pt x="0" y="0"/>
                </a:lnTo>
                <a:lnTo>
                  <a:pt x="0" y="10038224"/>
                </a:lnTo>
                <a:lnTo>
                  <a:pt x="10335366" y="10038224"/>
                </a:lnTo>
                <a:lnTo>
                  <a:pt x="10335366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grpSp>
        <p:nvGrpSpPr>
          <p:cNvPr id="6" name="Group 6"/>
          <p:cNvGrpSpPr/>
          <p:nvPr/>
        </p:nvGrpSpPr>
        <p:grpSpPr>
          <a:xfrm>
            <a:off x="6007852" y="391844"/>
            <a:ext cx="6074313" cy="6074312"/>
            <a:chOff x="-188667" y="-69445"/>
            <a:chExt cx="1507375" cy="1507374"/>
          </a:xfrm>
        </p:grpSpPr>
        <p:sp>
          <p:nvSpPr>
            <p:cNvPr id="7" name="Freeform 7"/>
            <p:cNvSpPr/>
            <p:nvPr/>
          </p:nvSpPr>
          <p:spPr>
            <a:xfrm>
              <a:off x="-188667" y="-69445"/>
              <a:ext cx="1507375" cy="1507374"/>
            </a:xfrm>
            <a:prstGeom prst="ellipse">
              <a:avLst/>
            </a:prstGeom>
            <a:blipFill>
              <a:blip r:embed="rId6"/>
              <a:srcRect/>
              <a:stretch>
                <a:fillRect l="-78487" t="-9550" b="-9550"/>
              </a:stretch>
            </a:blipFill>
          </p:spPr>
          <p:txBody>
            <a:bodyPr/>
            <a:lstStyle/>
            <a:p>
              <a:endParaRPr lang="en-IN" sz="1245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CFAFDC7-5FD4-AA0C-2C85-1B59ED6CD792}"/>
              </a:ext>
            </a:extLst>
          </p:cNvPr>
          <p:cNvSpPr txBox="1"/>
          <p:nvPr/>
        </p:nvSpPr>
        <p:spPr>
          <a:xfrm>
            <a:off x="358892" y="2584502"/>
            <a:ext cx="5648959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600" b="1" dirty="0">
                <a:solidFill>
                  <a:srgbClr val="023558"/>
                </a:solidFill>
                <a:latin typeface="+mj-lt"/>
              </a:rPr>
              <a:t>Full Stack Web Development with AI Tools</a:t>
            </a:r>
            <a:endParaRPr lang="en-US" sz="3600" b="1" dirty="0">
              <a:solidFill>
                <a:srgbClr val="023558"/>
              </a:solidFill>
            </a:endParaRP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54F00DD0-EB7B-EBC0-7FBE-8E865107AF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861" y="388408"/>
            <a:ext cx="1926070" cy="626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B315E8-A49C-3C13-082D-0A9135A687F9}"/>
              </a:ext>
            </a:extLst>
          </p:cNvPr>
          <p:cNvSpPr txBox="1"/>
          <p:nvPr/>
        </p:nvSpPr>
        <p:spPr>
          <a:xfrm>
            <a:off x="995345" y="4429568"/>
            <a:ext cx="42734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 b="1" i="1" dirty="0">
                <a:solidFill>
                  <a:srgbClr val="023558"/>
                </a:solidFill>
              </a:rPr>
              <a:t>Team Details – NG_CP_Team_419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310590-615E-A8EC-A0AB-F60F9F138367}"/>
              </a:ext>
            </a:extLst>
          </p:cNvPr>
          <p:cNvSpPr txBox="1"/>
          <p:nvPr/>
        </p:nvSpPr>
        <p:spPr>
          <a:xfrm>
            <a:off x="-672322" y="4772740"/>
            <a:ext cx="7999160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i="1" dirty="0">
                <a:solidFill>
                  <a:srgbClr val="023558"/>
                </a:solidFill>
              </a:rPr>
              <a:t>Name: Mayank Kishan Mathur </a:t>
            </a:r>
          </a:p>
          <a:p>
            <a:pPr algn="ctr"/>
            <a:r>
              <a:rPr lang="en-US" sz="1400" i="1" dirty="0">
                <a:solidFill>
                  <a:srgbClr val="023558"/>
                </a:solidFill>
              </a:rPr>
              <a:t>Name: Ashutosh Singh Negi </a:t>
            </a:r>
          </a:p>
          <a:p>
            <a:pPr algn="ctr"/>
            <a:r>
              <a:rPr lang="en-US" sz="1400" i="1" dirty="0">
                <a:solidFill>
                  <a:srgbClr val="023558"/>
                </a:solidFill>
              </a:rPr>
              <a:t>Name: Nikhil Shardul Haq Jha</a:t>
            </a:r>
          </a:p>
          <a:p>
            <a:pPr algn="ctr"/>
            <a:r>
              <a:rPr lang="en-US" sz="1400" i="1" dirty="0">
                <a:solidFill>
                  <a:srgbClr val="023558"/>
                </a:solidFill>
              </a:rPr>
              <a:t>Name: Ashutosh Ranjan</a:t>
            </a:r>
          </a:p>
          <a:p>
            <a:pPr algn="ctr"/>
            <a:r>
              <a:rPr lang="en-US" sz="1400" i="1" dirty="0">
                <a:solidFill>
                  <a:srgbClr val="023558"/>
                </a:solidFill>
              </a:rPr>
              <a:t>Name: Milind Parashar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0F0B85-2D0B-8CE2-0C62-378937D4A485}"/>
              </a:ext>
            </a:extLst>
          </p:cNvPr>
          <p:cNvSpPr txBox="1"/>
          <p:nvPr/>
        </p:nvSpPr>
        <p:spPr>
          <a:xfrm>
            <a:off x="1617088" y="5898012"/>
            <a:ext cx="403771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i="1" dirty="0">
                <a:solidFill>
                  <a:srgbClr val="023558"/>
                </a:solidFill>
              </a:rPr>
              <a:t>College: Inderprastha Engineering College, Ghaziabad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686482-2ABD-404B-4ABA-CEB96E4AB9C1}"/>
              </a:ext>
            </a:extLst>
          </p:cNvPr>
          <p:cNvGrpSpPr/>
          <p:nvPr/>
        </p:nvGrpSpPr>
        <p:grpSpPr>
          <a:xfrm>
            <a:off x="995345" y="1645077"/>
            <a:ext cx="4588472" cy="742352"/>
            <a:chOff x="1283711" y="1438666"/>
            <a:chExt cx="4588472" cy="74235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E615D82-5CB2-52DA-0B05-5FE8B54D042E}"/>
                </a:ext>
              </a:extLst>
            </p:cNvPr>
            <p:cNvSpPr/>
            <p:nvPr/>
          </p:nvSpPr>
          <p:spPr>
            <a:xfrm>
              <a:off x="1283711" y="1438666"/>
              <a:ext cx="4588472" cy="742352"/>
            </a:xfrm>
            <a:prstGeom prst="roundRect">
              <a:avLst/>
            </a:prstGeom>
            <a:solidFill>
              <a:srgbClr val="0349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CEE186-AA2C-A9BA-A43A-D62A437771F7}"/>
                </a:ext>
              </a:extLst>
            </p:cNvPr>
            <p:cNvSpPr txBox="1"/>
            <p:nvPr/>
          </p:nvSpPr>
          <p:spPr>
            <a:xfrm>
              <a:off x="1441240" y="1609787"/>
              <a:ext cx="4273414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E500"/>
                  </a:solidFill>
                </a:rPr>
                <a:t>Next Gen Employability Program</a:t>
              </a:r>
              <a:endParaRPr lang="en-US" dirty="0">
                <a:solidFill>
                  <a:srgbClr val="FFE500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03A782A-5355-03DB-CA26-A3A3D607DA31}"/>
              </a:ext>
            </a:extLst>
          </p:cNvPr>
          <p:cNvGrpSpPr/>
          <p:nvPr/>
        </p:nvGrpSpPr>
        <p:grpSpPr>
          <a:xfrm>
            <a:off x="1894840" y="1516840"/>
            <a:ext cx="8402320" cy="4033672"/>
            <a:chOff x="2159836" y="1516840"/>
            <a:chExt cx="8402320" cy="403367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C7C8318-501A-300C-1586-3487E06F1253}"/>
                </a:ext>
              </a:extLst>
            </p:cNvPr>
            <p:cNvGrpSpPr/>
            <p:nvPr/>
          </p:nvGrpSpPr>
          <p:grpSpPr>
            <a:xfrm>
              <a:off x="2159836" y="1608432"/>
              <a:ext cx="8402320" cy="3942080"/>
              <a:chOff x="2159836" y="1457960"/>
              <a:chExt cx="8402320" cy="3942080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E88D108B-EC8D-6B85-5F57-F9D19D5681C4}"/>
                  </a:ext>
                </a:extLst>
              </p:cNvPr>
              <p:cNvSpPr/>
              <p:nvPr/>
            </p:nvSpPr>
            <p:spPr>
              <a:xfrm>
                <a:off x="2159836" y="1457960"/>
                <a:ext cx="8402320" cy="3942080"/>
              </a:xfrm>
              <a:prstGeom prst="roundRect">
                <a:avLst>
                  <a:gd name="adj" fmla="val 10997"/>
                </a:avLst>
              </a:prstGeom>
              <a:solidFill>
                <a:srgbClr val="0349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97845F-F959-88CB-A4ED-3AA0360C1A9D}"/>
                  </a:ext>
                </a:extLst>
              </p:cNvPr>
              <p:cNvSpPr txBox="1"/>
              <p:nvPr/>
            </p:nvSpPr>
            <p:spPr>
              <a:xfrm>
                <a:off x="2159836" y="4391210"/>
                <a:ext cx="84023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FFE500"/>
                    </a:solidFill>
                  </a:rPr>
                  <a:t>The content is curated from online/offline resources and used for educational purpose only.</a:t>
                </a:r>
              </a:p>
            </p:txBody>
          </p:sp>
        </p:grpSp>
        <p:pic>
          <p:nvPicPr>
            <p:cNvPr id="8" name="Picture 7" descr="A blue sign with black background&#10;&#10;AI-generated content may be incorrect.">
              <a:extLst>
                <a:ext uri="{FF2B5EF4-FFF2-40B4-BE49-F238E27FC236}">
                  <a16:creationId xmlns:a16="http://schemas.microsoft.com/office/drawing/2014/main" id="{43BB6327-B30A-E013-C8DA-976B9EC35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324" t="20721" r="6756" b="23454"/>
            <a:stretch>
              <a:fillRect/>
            </a:stretch>
          </p:blipFill>
          <p:spPr>
            <a:xfrm>
              <a:off x="2487153" y="1516840"/>
              <a:ext cx="7747686" cy="289914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987024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yellow line with a black background&#10;&#10;AI-generated content may be incorrect.">
            <a:extLst>
              <a:ext uri="{FF2B5EF4-FFF2-40B4-BE49-F238E27FC236}">
                <a16:creationId xmlns:a16="http://schemas.microsoft.com/office/drawing/2014/main" id="{F314EBF8-9802-CF1D-801E-63C18C2206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20" t="30090" r="9640" b="30270"/>
          <a:stretch>
            <a:fillRect/>
          </a:stretch>
        </p:blipFill>
        <p:spPr>
          <a:xfrm>
            <a:off x="802675" y="1603289"/>
            <a:ext cx="10586649" cy="39078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FEE84B-060E-0646-61C1-61E6884BACC3}"/>
              </a:ext>
            </a:extLst>
          </p:cNvPr>
          <p:cNvSpPr txBox="1"/>
          <p:nvPr/>
        </p:nvSpPr>
        <p:spPr>
          <a:xfrm>
            <a:off x="3167861" y="3251436"/>
            <a:ext cx="69189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rgbClr val="D5E3FF"/>
                </a:solidFill>
              </a:rPr>
              <a:t>MEDIBRIDGE:HOSPITAL MANAGEMENT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7940F8-47B2-3605-4FFD-62224135AD9A}"/>
              </a:ext>
            </a:extLst>
          </p:cNvPr>
          <p:cNvSpPr txBox="1"/>
          <p:nvPr/>
        </p:nvSpPr>
        <p:spPr>
          <a:xfrm>
            <a:off x="5495063" y="2882104"/>
            <a:ext cx="226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D5E3FF"/>
                </a:solidFill>
              </a:rPr>
              <a:t>Project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1132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/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Table of Contents</a:t>
            </a: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07E1EAD1-F835-6956-77CD-17363121C17E}"/>
              </a:ext>
            </a:extLst>
          </p:cNvPr>
          <p:cNvSpPr txBox="1">
            <a:spLocks/>
          </p:cNvSpPr>
          <p:nvPr/>
        </p:nvSpPr>
        <p:spPr>
          <a:xfrm>
            <a:off x="185129" y="1270699"/>
            <a:ext cx="5754564" cy="393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Introduction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Problem Statement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Proposed Solution</a:t>
            </a:r>
            <a:endParaRPr lang="en-US" sz="1800" dirty="0"/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Key Features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Technology Stack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System Flowchart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Core Modules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Security Measures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Conclusion and Future work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References</a:t>
            </a:r>
            <a:endParaRPr lang="en-US" sz="1800" dirty="0"/>
          </a:p>
        </p:txBody>
      </p:sp>
      <p:pic>
        <p:nvPicPr>
          <p:cNvPr id="3" name="Picture 2" descr="A light bulb with a black background&#10;&#10;Description automatically generated">
            <a:extLst>
              <a:ext uri="{FF2B5EF4-FFF2-40B4-BE49-F238E27FC236}">
                <a16:creationId xmlns:a16="http://schemas.microsoft.com/office/drawing/2014/main" id="{C3BD9B49-6271-C92D-48CE-5039440C29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17" t="5427" r="7295" b="7474"/>
          <a:stretch/>
        </p:blipFill>
        <p:spPr>
          <a:xfrm>
            <a:off x="7112000" y="1092200"/>
            <a:ext cx="4551680" cy="46321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168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5FF2F38-51BB-3F9C-89B0-2467CA66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A0901C30-ADD5-989C-879E-1983191DD8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US" sz="2000" b="1" dirty="0">
                <a:solidFill>
                  <a:srgbClr val="002060"/>
                </a:solidFill>
              </a:rPr>
              <a:t>Introduction</a:t>
            </a:r>
            <a:endParaRPr lang="en-IN" sz="2000" b="1" dirty="0">
              <a:solidFill>
                <a:srgbClr val="0020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66C4A2-417D-435A-BAEF-A536FC6B2993}"/>
              </a:ext>
            </a:extLst>
          </p:cNvPr>
          <p:cNvSpPr txBox="1"/>
          <p:nvPr/>
        </p:nvSpPr>
        <p:spPr>
          <a:xfrm>
            <a:off x="174709" y="1831650"/>
            <a:ext cx="8800593" cy="23186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800" dirty="0" err="1"/>
              <a:t>MediBridge</a:t>
            </a:r>
            <a:r>
              <a:rPr lang="en-GB" sz="1800" dirty="0"/>
              <a:t> is an online healthcare platform that brings patients and doctors together in one easy-to-use system. It allows patients to book appointments online and access personalized dashboards, while doctors can manage consultations efficiently. The platform also includes an ML-based self-diagnosis feature that helps patients understand possible health conditions and find suitable doctors quickly. With direct redirection from diagnosis to appointment booking, </a:t>
            </a:r>
            <a:r>
              <a:rPr lang="en-GB" sz="1800" dirty="0" err="1"/>
              <a:t>MediBridge</a:t>
            </a:r>
            <a:r>
              <a:rPr lang="en-GB" sz="1800" dirty="0"/>
              <a:t> reduces waiting time and makes healthcare more accessible and convenient.</a:t>
            </a:r>
            <a:endParaRPr lang="en-US" dirty="0"/>
          </a:p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606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9A1CF19-477C-5C17-FA78-34A1ABC1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475BC786-E92C-DE4A-EE1E-7D4D449C21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002060"/>
                </a:solidFill>
              </a:rPr>
              <a:t>Problem Statement</a:t>
            </a:r>
            <a:br>
              <a:rPr lang="en-IN" sz="2000" dirty="0"/>
            </a:b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95B4F-DA04-45E9-9C29-A6098290B3E3}"/>
              </a:ext>
            </a:extLst>
          </p:cNvPr>
          <p:cNvSpPr txBox="1"/>
          <p:nvPr/>
        </p:nvSpPr>
        <p:spPr>
          <a:xfrm>
            <a:off x="174709" y="1532467"/>
            <a:ext cx="8960824" cy="382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Traditional hospital systems suffer from:</a:t>
            </a:r>
          </a:p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 Long waiting times for doctor consultations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 Lack of preliminary guidance for patients before booking appointments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 Manual and inefficient appointment management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 No intelligent support to guide patients to the correct medical specialist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 Poor digital coordination between patients and doctors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8065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7D828F6-D11A-004C-6B1C-7342E3C2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01B87DF3-C5CE-63DD-4007-1F1C71D372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514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13163"/>
              </a:buClr>
              <a:buSzTx/>
              <a:tabLst/>
              <a:defRPr/>
            </a:pPr>
            <a:r>
              <a: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Proposed Solution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EBF881-BFA1-4A10-954D-040D0CE4BEFD}"/>
              </a:ext>
            </a:extLst>
          </p:cNvPr>
          <p:cNvSpPr txBox="1"/>
          <p:nvPr/>
        </p:nvSpPr>
        <p:spPr>
          <a:xfrm>
            <a:off x="174709" y="1667933"/>
            <a:ext cx="9643533" cy="34266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MediBridge provides an integrated digital healthcare platform with:</a:t>
            </a:r>
          </a:p>
          <a:p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  Online patient and doctor Portals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Appointment scheduling and tracking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A Self-Diagnosis portal using Machine Learning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Automatic doctor recommendation based on predicted specialization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Seamless redirection to appointment booking with pre-filled details</a:t>
            </a:r>
          </a:p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231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EA537C-1353-4E19-98A4-37B0E50484E0}"/>
              </a:ext>
            </a:extLst>
          </p:cNvPr>
          <p:cNvSpPr txBox="1"/>
          <p:nvPr/>
        </p:nvSpPr>
        <p:spPr>
          <a:xfrm>
            <a:off x="203200" y="1092199"/>
            <a:ext cx="2184400" cy="68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9034C-5AEE-47AA-981D-A6E69D004E26}"/>
              </a:ext>
            </a:extLst>
          </p:cNvPr>
          <p:cNvSpPr txBox="1"/>
          <p:nvPr/>
        </p:nvSpPr>
        <p:spPr>
          <a:xfrm>
            <a:off x="203201" y="1826363"/>
            <a:ext cx="6807200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216000">
              <a:buFont typeface="Arial" panose="020B0604020202020204" pitchFamily="34" charset="0"/>
              <a:buChar char="•"/>
            </a:pPr>
            <a:r>
              <a:rPr lang="en-GB" sz="1800" dirty="0"/>
              <a:t>Secure patient and doctor login with role-based dashboards.</a:t>
            </a:r>
          </a:p>
          <a:p>
            <a:pPr marL="342900" indent="-21600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342900" indent="-216000">
              <a:buFont typeface="Arial" panose="020B0604020202020204" pitchFamily="34" charset="0"/>
              <a:buChar char="•"/>
            </a:pPr>
            <a:r>
              <a:rPr lang="en-GB" sz="1800" dirty="0"/>
              <a:t>Online appointment booking and status tracking.</a:t>
            </a:r>
          </a:p>
          <a:p>
            <a:pPr marL="126900"/>
            <a:endParaRPr lang="en-GB" sz="1800" dirty="0"/>
          </a:p>
          <a:p>
            <a:pPr marL="342900" indent="-216000">
              <a:buFont typeface="Arial" panose="020B0604020202020204" pitchFamily="34" charset="0"/>
              <a:buChar char="•"/>
            </a:pPr>
            <a:r>
              <a:rPr lang="en-GB" sz="1800" dirty="0"/>
              <a:t>ML-based self-diagnosis using symptom selection.</a:t>
            </a:r>
          </a:p>
          <a:p>
            <a:pPr marL="126900"/>
            <a:endParaRPr lang="en-GB" sz="1800" dirty="0"/>
          </a:p>
          <a:p>
            <a:pPr marL="342900" indent="-216000">
              <a:buFont typeface="Arial" panose="020B0604020202020204" pitchFamily="34" charset="0"/>
              <a:buChar char="•"/>
            </a:pPr>
            <a:r>
              <a:rPr lang="en-GB" sz="1800" dirty="0"/>
              <a:t>Automatic doctor recommendation based on specialization.</a:t>
            </a:r>
          </a:p>
          <a:p>
            <a:pPr marL="126900"/>
            <a:endParaRPr lang="en-GB" sz="1800" dirty="0"/>
          </a:p>
          <a:p>
            <a:pPr marL="342900" indent="-216000">
              <a:buFont typeface="Arial" panose="020B0604020202020204" pitchFamily="34" charset="0"/>
              <a:buChar char="•"/>
            </a:pPr>
            <a:r>
              <a:rPr lang="en-GB" sz="1800" dirty="0"/>
              <a:t>Doctor availability and appointment management.</a:t>
            </a:r>
          </a:p>
          <a:p>
            <a:pPr marL="342900" indent="-21600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342900" indent="-21600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690503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03AC82-30BF-49CA-B6C2-242C9C6DF5B2}"/>
              </a:ext>
            </a:extLst>
          </p:cNvPr>
          <p:cNvSpPr txBox="1"/>
          <p:nvPr/>
        </p:nvSpPr>
        <p:spPr>
          <a:xfrm>
            <a:off x="160867" y="1041400"/>
            <a:ext cx="2658534" cy="68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Stack</a:t>
            </a:r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2BF49-E8FB-4B77-B4B7-1E8A92CB7AA2}"/>
              </a:ext>
            </a:extLst>
          </p:cNvPr>
          <p:cNvSpPr txBox="1"/>
          <p:nvPr/>
        </p:nvSpPr>
        <p:spPr>
          <a:xfrm>
            <a:off x="160867" y="1610299"/>
            <a:ext cx="10549468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/>
              <a:t>Frontend – HTML, CSS, Bootstrap, JavaScript.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/>
              <a:t>Backend – Python, Django.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/>
              <a:t>Authentication &amp; Security – Django built-in authentication system.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/>
              <a:t>Machine Learning – Scikit-learn, </a:t>
            </a:r>
            <a:r>
              <a:rPr lang="en-GB" sz="1800" dirty="0" err="1"/>
              <a:t>Joblib</a:t>
            </a:r>
            <a:r>
              <a:rPr lang="en-GB" sz="18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/>
              <a:t>Database – SQLite3 (development).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/>
              <a:t>Tools – VS Code, Git, Django ORM. </a:t>
            </a:r>
          </a:p>
        </p:txBody>
      </p:sp>
    </p:spTree>
    <p:extLst>
      <p:ext uri="{BB962C8B-B14F-4D97-AF65-F5344CB8AC3E}">
        <p14:creationId xmlns:p14="http://schemas.microsoft.com/office/powerpoint/2010/main" val="3834544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661232-9539-49EF-8251-2B73B97BC983}"/>
              </a:ext>
            </a:extLst>
          </p:cNvPr>
          <p:cNvSpPr txBox="1"/>
          <p:nvPr/>
        </p:nvSpPr>
        <p:spPr>
          <a:xfrm>
            <a:off x="220134" y="957406"/>
            <a:ext cx="2463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2060"/>
                </a:solidFill>
              </a:rPr>
              <a:t>System Flowchart</a:t>
            </a:r>
          </a:p>
        </p:txBody>
      </p:sp>
      <p:pic>
        <p:nvPicPr>
          <p:cNvPr id="2" name="Picture 1" descr="A diagram of a patient module&#10;&#10;AI-generated content may be incorrect.">
            <a:extLst>
              <a:ext uri="{FF2B5EF4-FFF2-40B4-BE49-F238E27FC236}">
                <a16:creationId xmlns:a16="http://schemas.microsoft.com/office/drawing/2014/main" id="{D60B57A5-E7CF-EEDF-2E8D-521F5B4815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6" t="15430" r="-726" b="19348"/>
          <a:stretch>
            <a:fillRect/>
          </a:stretch>
        </p:blipFill>
        <p:spPr>
          <a:xfrm>
            <a:off x="2174034" y="1446245"/>
            <a:ext cx="7212562" cy="512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4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6A6D27-9884-41A4-B1B9-E5A92C44BFE2}"/>
              </a:ext>
            </a:extLst>
          </p:cNvPr>
          <p:cNvSpPr txBox="1"/>
          <p:nvPr/>
        </p:nvSpPr>
        <p:spPr>
          <a:xfrm>
            <a:off x="228601" y="102513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2060"/>
                </a:solidFill>
              </a:rPr>
              <a:t>Core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FE3F11-C9AB-4802-B042-19F1D18557FD}"/>
              </a:ext>
            </a:extLst>
          </p:cNvPr>
          <p:cNvSpPr txBox="1"/>
          <p:nvPr/>
        </p:nvSpPr>
        <p:spPr>
          <a:xfrm>
            <a:off x="228601" y="1608666"/>
            <a:ext cx="91778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Patient Module: Registration and login, patient dashboard , self-diagnosis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Doctor Module: Doctor registration and login, doctor dashboard, appointment viewing and status handling, and availability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Appointment Module: Appointment booking, doctor selection, and appointment status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Diagnosis Module (ML Module): Symptom selection (Yes/No), machine-learning based condition prediction, specialization mapping, confidence scoring.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637135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1327F5-5B9F-8450-E75A-CC6868FB4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6" y="783771"/>
            <a:ext cx="5887616" cy="5122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041850-78F6-5BB9-5A50-9854F9245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08" y="783771"/>
            <a:ext cx="5887616" cy="512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22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313338-60D7-D0EF-5AAE-35C41CDD1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5" y="923732"/>
            <a:ext cx="5937380" cy="52251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B965B3-85F0-2D08-E597-CE8DB4E94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645" y="923732"/>
            <a:ext cx="5937380" cy="522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57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52B30F-78B0-A713-C117-8DFBF508F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1" y="821094"/>
            <a:ext cx="5937380" cy="5527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5B07A6-C0E6-4E2D-E61E-A26A313FC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618" y="821094"/>
            <a:ext cx="5778761" cy="553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32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B91671-2818-489F-8EE6-01822D57F8F6}"/>
              </a:ext>
            </a:extLst>
          </p:cNvPr>
          <p:cNvSpPr txBox="1"/>
          <p:nvPr/>
        </p:nvSpPr>
        <p:spPr>
          <a:xfrm>
            <a:off x="143933" y="104207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2060"/>
                </a:solidFill>
              </a:rPr>
              <a:t>Security Measures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A5207-44E5-407C-9A8F-4C69DCF93003}"/>
              </a:ext>
            </a:extLst>
          </p:cNvPr>
          <p:cNvSpPr txBox="1"/>
          <p:nvPr/>
        </p:nvSpPr>
        <p:spPr>
          <a:xfrm>
            <a:off x="143933" y="1591734"/>
            <a:ext cx="7476066" cy="2390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Django authentication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Role-based access (patient / doctor)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Session-based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CSRF protection for all 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Input validation using Django 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Access control for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Server-side data processing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No direct database exposure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5D7B5-8C11-F650-D175-00352A7AF8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03" t="3276" r="-1" b="3201"/>
          <a:stretch>
            <a:fillRect/>
          </a:stretch>
        </p:blipFill>
        <p:spPr>
          <a:xfrm>
            <a:off x="5741437" y="933060"/>
            <a:ext cx="5380653" cy="472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06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6A2925-27A5-48B9-AD23-172E7F54788B}"/>
              </a:ext>
            </a:extLst>
          </p:cNvPr>
          <p:cNvSpPr txBox="1"/>
          <p:nvPr/>
        </p:nvSpPr>
        <p:spPr>
          <a:xfrm>
            <a:off x="169333" y="965872"/>
            <a:ext cx="381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2060"/>
                </a:solidFill>
              </a:rPr>
              <a:t>Conclusion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0D550-1A79-4BBF-B605-06FA062A1AB6}"/>
              </a:ext>
            </a:extLst>
          </p:cNvPr>
          <p:cNvSpPr txBox="1"/>
          <p:nvPr/>
        </p:nvSpPr>
        <p:spPr>
          <a:xfrm>
            <a:off x="169333" y="1526848"/>
            <a:ext cx="96435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MediBridge integrates appointment management, doctor availability control, and a machine-learning based self-diagnosis and recommendation system into a single healthcare platform. It enables a smooth flow from symptom analysis to doctor selection and booking, helping patients reach the right specialist faster while improving overall hospital efficiency.</a:t>
            </a:r>
          </a:p>
          <a:p>
            <a:endParaRPr lang="en-GB" sz="1800" dirty="0"/>
          </a:p>
          <a:p>
            <a:endParaRPr lang="en-GB" sz="1800" dirty="0"/>
          </a:p>
          <a:p>
            <a:r>
              <a:rPr lang="en-GB" sz="1800" b="1" dirty="0">
                <a:solidFill>
                  <a:srgbClr val="002060"/>
                </a:solidFill>
              </a:rPr>
              <a:t>Future work</a:t>
            </a:r>
          </a:p>
          <a:p>
            <a:endParaRPr lang="en-GB" sz="1800" dirty="0"/>
          </a:p>
          <a:p>
            <a:r>
              <a:rPr lang="en-GB" sz="1800" dirty="0"/>
              <a:t>In the future, the system can be enhanced using real medical datasets and more advanced models, along with features such as a mobile application, multilingual support, video consultations, real-time scheduling, hospital system integration, online payments, and digital prescriptions.</a:t>
            </a:r>
          </a:p>
        </p:txBody>
      </p:sp>
    </p:spTree>
    <p:extLst>
      <p:ext uri="{BB962C8B-B14F-4D97-AF65-F5344CB8AC3E}">
        <p14:creationId xmlns:p14="http://schemas.microsoft.com/office/powerpoint/2010/main" val="966650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E0CFA53-CCA4-D4E2-FCC5-6726C9696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6696FB24-3D2E-A463-EE53-5191611540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US" sz="2000" b="1" dirty="0">
                <a:solidFill>
                  <a:srgbClr val="213163"/>
                </a:solidFill>
              </a:rPr>
              <a:t>R</a:t>
            </a:r>
            <a:r>
              <a:rPr lang="en-IN" sz="2000" b="1" dirty="0" err="1">
                <a:solidFill>
                  <a:srgbClr val="213163"/>
                </a:solidFill>
              </a:rPr>
              <a:t>eferences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07E1EAD1-F835-6956-77CD-17363121C17E}"/>
              </a:ext>
            </a:extLst>
          </p:cNvPr>
          <p:cNvSpPr txBox="1">
            <a:spLocks/>
          </p:cNvSpPr>
          <p:nvPr/>
        </p:nvSpPr>
        <p:spPr>
          <a:xfrm>
            <a:off x="180422" y="1295648"/>
            <a:ext cx="12650663" cy="291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30505" indent="-230505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50" dirty="0"/>
              <a:t>https://www.udemy.com/course/hospital-management-system-using-django</a:t>
            </a:r>
          </a:p>
          <a:p>
            <a:pPr marL="230505" indent="-230505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50" dirty="0"/>
              <a:t>https://phpgurukul.com/hospital-management-system-using-python-django-and-mysql</a:t>
            </a:r>
          </a:p>
          <a:p>
            <a:pPr marL="230505" indent="-230505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50" dirty="0"/>
              <a:t>https://github.com/sumitkumar1503/hospitalmanagement</a:t>
            </a:r>
          </a:p>
          <a:p>
            <a:pPr marL="230505" indent="-230505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50" dirty="0">
                <a:hlinkClick r:id="rId4"/>
              </a:rPr>
              <a:t>https://www.scribd.com/document/875329232/100613941398</a:t>
            </a:r>
          </a:p>
          <a:p>
            <a:pPr marL="230505" indent="-230505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50" dirty="0"/>
              <a:t>https://www.researchgate.net/publication/384423677_Hospital_Management_System_Using_PYTHON_DJANGO</a:t>
            </a:r>
          </a:p>
          <a:p>
            <a:pPr marL="230505" indent="-230505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endParaRPr lang="en-US" sz="1867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4974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585</TotalTime>
  <Words>1306</Words>
  <Application>Microsoft Office PowerPoint</Application>
  <PresentationFormat>Widescreen</PresentationFormat>
  <Paragraphs>245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 Narrow</vt:lpstr>
      <vt:lpstr>Arial</vt:lpstr>
      <vt:lpstr>Calibri</vt:lpstr>
      <vt:lpstr>Times New Roman</vt:lpstr>
      <vt:lpstr>Simple Light</vt:lpstr>
      <vt:lpstr>PowerPoint Presentation</vt:lpstr>
      <vt:lpstr>PowerPoint Presentation</vt:lpstr>
      <vt:lpstr>PowerPoint Presentation</vt:lpstr>
      <vt:lpstr>Table of Contents</vt:lpstr>
      <vt:lpstr>Introduction</vt:lpstr>
      <vt:lpstr>Problem Statement </vt:lpstr>
      <vt:lpstr>Proposed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Helvin Mg</dc:creator>
  <cp:lastModifiedBy>Ashutosh Ranjan</cp:lastModifiedBy>
  <cp:revision>146</cp:revision>
  <dcterms:modified xsi:type="dcterms:W3CDTF">2026-02-02T10:22:14Z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ADA14AB9-6E05-4AF1-84FB-ACE67E38F4B9</vt:lpwstr>
  </property>
  <property fmtid="{D5CDD505-2E9C-101B-9397-08002B2CF9AE}" pid="4" name="ArticulatePath">
    <vt:lpwstr>https://edunetfoundationorg-my.sharepoint.com/personal/kaisar_edunetfoundation_org/Documents/Beutified ppt/EY/Student showcase 2025/Master Class 2 - UI_UX Design Principles</vt:lpwstr>
  </property>
</Properties>
</file>